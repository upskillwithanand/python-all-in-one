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  <p:embeddedFont>
      <p:font typeface="Agbalumo"/>
      <p:regular r:id="rId12"/>
    </p:embeddedFont>
    <p:embeddedFont>
      <p:font typeface="Poltawski Now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3" Type="http://schemas.openxmlformats.org/officeDocument/2006/relationships/font" Target="fonts/PoltawskiNowy-regular.fntdata"/><Relationship Id="rId12" Type="http://schemas.openxmlformats.org/officeDocument/2006/relationships/font" Target="fonts/Agbalum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15" Type="http://schemas.openxmlformats.org/officeDocument/2006/relationships/font" Target="fonts/PoltawskiNowy-italic.fntdata"/><Relationship Id="rId14" Type="http://schemas.openxmlformats.org/officeDocument/2006/relationships/font" Target="fonts/PoltawskiNowy-bold.fntdata"/><Relationship Id="rId16" Type="http://schemas.openxmlformats.org/officeDocument/2006/relationships/font" Target="fonts/PoltawskiNow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51196b11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51196b11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51eefb4e4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51eefb4e4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720"/>
              <a:t>1.2. What You’ll Learn</a:t>
            </a:r>
            <a:endParaRPr sz="37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492369" y="993531"/>
            <a:ext cx="1934400" cy="1160700"/>
          </a:xfrm>
          <a:prstGeom prst="roundRect">
            <a:avLst>
              <a:gd fmla="val 6818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2576146" y="993531"/>
            <a:ext cx="1934400" cy="1160700"/>
          </a:xfrm>
          <a:prstGeom prst="roundRect">
            <a:avLst>
              <a:gd fmla="val 6818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4659923" y="993531"/>
            <a:ext cx="1934400" cy="1160700"/>
          </a:xfrm>
          <a:prstGeom prst="roundRect">
            <a:avLst>
              <a:gd fmla="val 6818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743700" y="993531"/>
            <a:ext cx="1934400" cy="1160700"/>
          </a:xfrm>
          <a:prstGeom prst="roundRect">
            <a:avLst>
              <a:gd fmla="val 6818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492369" y="2303585"/>
            <a:ext cx="1934400" cy="1371600"/>
          </a:xfrm>
          <a:prstGeom prst="roundRect">
            <a:avLst>
              <a:gd fmla="val 5769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2576146" y="2303585"/>
            <a:ext cx="1934400" cy="1371600"/>
          </a:xfrm>
          <a:prstGeom prst="roundRect">
            <a:avLst>
              <a:gd fmla="val 5769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659923" y="2303585"/>
            <a:ext cx="1934400" cy="1371600"/>
          </a:xfrm>
          <a:prstGeom prst="roundRect">
            <a:avLst>
              <a:gd fmla="val 5769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6743700" y="2303585"/>
            <a:ext cx="1934400" cy="1371600"/>
          </a:xfrm>
          <a:prstGeom prst="roundRect">
            <a:avLst>
              <a:gd fmla="val 5769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92369" y="3824654"/>
            <a:ext cx="4018200" cy="905700"/>
          </a:xfrm>
          <a:prstGeom prst="roundRect">
            <a:avLst>
              <a:gd fmla="val 873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4659923" y="3824654"/>
            <a:ext cx="4018200" cy="905700"/>
          </a:xfrm>
          <a:prstGeom prst="roundRect">
            <a:avLst>
              <a:gd fmla="val 873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300" lIns="63300" spcFirstLastPara="1" rIns="63300" wrap="square" tIns="6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92371" y="404450"/>
            <a:ext cx="2363400" cy="33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 u="none" cap="none" strike="noStrike">
                <a:solidFill>
                  <a:srgbClr val="F1C232"/>
                </a:solidFill>
                <a:latin typeface="Agbalumo"/>
                <a:ea typeface="Agbalumo"/>
                <a:cs typeface="Agbalumo"/>
                <a:sym typeface="Agbalumo"/>
              </a:rPr>
              <a:t>Course Roadmap</a:t>
            </a:r>
            <a:endParaRPr b="0" i="0" sz="800" u="none" cap="none" strike="noStrik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633046" y="1134208"/>
            <a:ext cx="1653000" cy="5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📘 1. Introduction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716823" y="1134208"/>
            <a:ext cx="1653000" cy="5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🧠 2. GenAI Foundations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800600" y="1134208"/>
            <a:ext cx="1653000" cy="5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💻 3. LLMs in Python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6884377" y="1134208"/>
            <a:ext cx="1653000" cy="5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📝 4. Prompt Engineering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633046" y="2444262"/>
            <a:ext cx="1653000" cy="5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🤖 5. GenAI Chatbots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2716823" y="2444262"/>
            <a:ext cx="1653000" cy="25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📂 6. RAG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800600" y="2444262"/>
            <a:ext cx="1398000" cy="25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👥 7. AI Agents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6884377" y="2444262"/>
            <a:ext cx="1653000" cy="5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☁️ 8. LLM Deployment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33046" y="3965331"/>
            <a:ext cx="1530000" cy="25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🔌 9. MCP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4800600" y="3965331"/>
            <a:ext cx="2303700" cy="25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🚀 10. Capstone Projects</a:t>
            </a:r>
            <a:endParaRPr b="0" i="0" sz="8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33046" y="1811215"/>
            <a:ext cx="1653000" cy="2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Course </a:t>
            </a: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Overview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2716823" y="1811215"/>
            <a:ext cx="1653000" cy="2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Core Concepts &amp; Theory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4800600" y="1811215"/>
            <a:ext cx="1653000" cy="2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Hands-on Coding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6884377" y="1811215"/>
            <a:ext cx="1653000" cy="2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Master Prompting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33046" y="3112477"/>
            <a:ext cx="1653000" cy="2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Build Conversational AI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2716823" y="2857500"/>
            <a:ext cx="1653000" cy="42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Retrieval-Augmented Generation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800600" y="2857500"/>
            <a:ext cx="1398000" cy="2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Autonomous Systems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884377" y="3112477"/>
            <a:ext cx="1653000" cy="42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Production Environments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33052" y="4378575"/>
            <a:ext cx="2303700" cy="2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Model Context Protocol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800600" y="4378569"/>
            <a:ext cx="2303700" cy="2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Poltawski Nowy"/>
                <a:ea typeface="Poltawski Nowy"/>
                <a:cs typeface="Poltawski Nowy"/>
                <a:sym typeface="Poltawski Nowy"/>
              </a:rPr>
              <a:t>Real-world Applications</a:t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